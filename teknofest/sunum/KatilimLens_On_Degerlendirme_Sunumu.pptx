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874519"/>
            <a:ext cx="109728" cy="109728"/>
          </a:xfrm>
          <a:prstGeom prst="ellipse">
            <a:avLst/>
          </a:prstGeom>
          <a:solidFill>
            <a:srgbClr val="16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" y="1874519"/>
            <a:ext cx="109728" cy="109728"/>
          </a:xfrm>
          <a:prstGeom prst="ellipse">
            <a:avLst/>
          </a:prstGeom>
          <a:solidFill>
            <a:srgbClr val="2F8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2144" y="1874519"/>
            <a:ext cx="109728" cy="109728"/>
          </a:xfrm>
          <a:prstGeom prst="ellipse">
            <a:avLst/>
          </a:prstGeom>
          <a:solidFill>
            <a:srgbClr val="16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08176" y="1874519"/>
            <a:ext cx="109728" cy="109728"/>
          </a:xfrm>
          <a:prstGeom prst="ellipse">
            <a:avLst/>
          </a:prstGeom>
          <a:solidFill>
            <a:srgbClr val="2F8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64208" y="1874519"/>
            <a:ext cx="109728" cy="109728"/>
          </a:xfrm>
          <a:prstGeom prst="ellipse">
            <a:avLst/>
          </a:prstGeom>
          <a:solidFill>
            <a:srgbClr val="16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20240" y="1874519"/>
            <a:ext cx="109728" cy="109728"/>
          </a:xfrm>
          <a:prstGeom prst="ellipse">
            <a:avLst/>
          </a:prstGeom>
          <a:solidFill>
            <a:srgbClr val="2F8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10972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800" b="1" i="0">
                <a:solidFill>
                  <a:srgbClr val="FFFFFF"/>
                </a:solidFill>
                <a:latin typeface="Calibri"/>
              </a:rPr>
              <a:t>KatılımLens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4290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CADCFC"/>
                </a:solidFill>
                <a:latin typeface="Calibri"/>
              </a:rPr>
              <a:t>Katılım Bankacılığı Finansal Metin Madenciliği, Bilgi Çıkarımı ve Akıllı Dashboard-Asistan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1605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6C79A"/>
                </a:solidFill>
                <a:latin typeface="Calibri"/>
              </a:rPr>
              <a:t>TEKNOFEST 2026 · Türkçe Yapay Zekâ Dil Ajanları Yarışması · 2. Senaryo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120640"/>
            <a:ext cx="3840480" cy="914400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16C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230368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8B9BBD"/>
                </a:solidFill>
                <a:latin typeface="Calibri"/>
              </a:rPr>
              <a:t>TAKIM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541264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Berrak Zeka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557784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 i="0">
                <a:solidFill>
                  <a:srgbClr val="16C79A"/>
                </a:solidFill>
                <a:latin typeface="Calibri"/>
              </a:rPr>
              <a:t>On-Prem · Sıfır Halüsinasyon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6C79A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E7ECF6"/>
                </a:solidFill>
                <a:latin typeface="Calibri"/>
              </a:rPr>
              <a:t>Katılım bankası metinleri dağınık ve karşılaştırılamaz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975104"/>
            <a:ext cx="146304" cy="146304"/>
          </a:xfrm>
          <a:prstGeom prst="ellipse">
            <a:avLst/>
          </a:prstGeom>
          <a:solidFill>
            <a:srgbClr val="16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E7ECF6"/>
                </a:solidFill>
                <a:latin typeface="Calibri"/>
              </a:rPr>
              <a:t>Standart yok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874520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8B9BBD"/>
                </a:solidFill>
                <a:latin typeface="Calibri"/>
              </a:rPr>
              <a:t>Her banka farklı ifade, farklı format kullanıyor — kâr payı bir yerde açık, bir yerde dolaylı.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3026664"/>
            <a:ext cx="146304" cy="146304"/>
          </a:xfrm>
          <a:prstGeom prst="ellipse">
            <a:avLst/>
          </a:prstGeom>
          <a:solidFill>
            <a:srgbClr val="16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E7ECF6"/>
                </a:solidFill>
                <a:latin typeface="Calibri"/>
              </a:rPr>
              <a:t>Domain nüansı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26080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8B9BBD"/>
                </a:solidFill>
                <a:latin typeface="Calibri"/>
              </a:rPr>
              <a:t>Faizsiz bankacılık dili: faiz değil kâr payı, kredi değil finansman, sabit oran yerine paylaşım oranı.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4078224"/>
            <a:ext cx="146304" cy="146304"/>
          </a:xfrm>
          <a:prstGeom prst="ellipse">
            <a:avLst/>
          </a:prstGeom>
          <a:solidFill>
            <a:srgbClr val="16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776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E7ECF6"/>
                </a:solidFill>
                <a:latin typeface="Calibri"/>
              </a:rPr>
              <a:t>Manuel emek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977640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8B9BBD"/>
                </a:solidFill>
                <a:latin typeface="Calibri"/>
              </a:rPr>
              <a:t>Kullanıcı/banka çalışanı onlarca sayfayı elle inceleyip kıyaslamak zorunda.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5129784"/>
            <a:ext cx="146304" cy="146304"/>
          </a:xfrm>
          <a:prstGeom prst="ellipse">
            <a:avLst/>
          </a:prstGeom>
          <a:solidFill>
            <a:srgbClr val="16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0292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E7ECF6"/>
                </a:solidFill>
                <a:latin typeface="Calibri"/>
              </a:rPr>
              <a:t>Güvenilmezlik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5029200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8B9BBD"/>
                </a:solidFill>
                <a:latin typeface="Calibri"/>
              </a:rPr>
              <a:t>Genel LLM'ler sayıyı uydurabildiği (halüsinasyon) için finansal kararda riskli.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6C79A"/>
                </a:solidFill>
                <a:latin typeface="Calibri"/>
              </a:rPr>
              <a:t>ÇÖZÜM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E7ECF6"/>
                </a:solidFill>
                <a:latin typeface="Calibri"/>
              </a:rPr>
              <a:t>Uçtan uca NLP hattı: topla → çıkar → karşılaştır → sun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2606040" cy="2194560"/>
          </a:xfrm>
          <a:prstGeom prst="roundRect">
            <a:avLst/>
          </a:prstGeom>
          <a:solidFill>
            <a:srgbClr val="151C30"/>
          </a:solidFill>
          <a:ln w="12700">
            <a:solidFill>
              <a:srgbClr val="22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468880"/>
            <a:ext cx="640080" cy="640080"/>
          </a:xfrm>
          <a:prstGeom prst="ellipse">
            <a:avLst/>
          </a:prstGeom>
          <a:solidFill>
            <a:srgbClr val="16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42032"/>
            <a:ext cx="640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0B2447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E7ECF6"/>
                </a:solidFill>
                <a:latin typeface="Calibri"/>
              </a:rPr>
              <a:t>Veri Toplama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8B9BBD"/>
                </a:solidFill>
                <a:latin typeface="Calibri"/>
              </a:rPr>
              <a:t>10 BDDK bankası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8B9BBD"/>
                </a:solidFill>
                <a:latin typeface="Calibri"/>
              </a:rPr>
              <a:t>httpx + Playwright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01752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6C79A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194560"/>
            <a:ext cx="2606040" cy="2194560"/>
          </a:xfrm>
          <a:prstGeom prst="roundRect">
            <a:avLst/>
          </a:prstGeom>
          <a:solidFill>
            <a:srgbClr val="151C30"/>
          </a:solidFill>
          <a:ln w="12700">
            <a:solidFill>
              <a:srgbClr val="22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03320" y="2468880"/>
            <a:ext cx="640080" cy="640080"/>
          </a:xfrm>
          <a:prstGeom prst="ellipse">
            <a:avLst/>
          </a:prstGeom>
          <a:solidFill>
            <a:srgbClr val="16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542032"/>
            <a:ext cx="640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0B2447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33756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E7ECF6"/>
                </a:solidFill>
                <a:latin typeface="Calibri"/>
              </a:rPr>
              <a:t>Bilgi Çıkarımı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749039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8B9BBD"/>
                </a:solidFill>
                <a:latin typeface="Calibri"/>
              </a:rPr>
              <a:t>Şema-kısıtlı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8B9BBD"/>
                </a:solidFill>
                <a:latin typeface="Calibri"/>
              </a:rPr>
              <a:t>grounding'li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301752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6C79A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194560"/>
            <a:ext cx="2606040" cy="2194560"/>
          </a:xfrm>
          <a:prstGeom prst="roundRect">
            <a:avLst/>
          </a:prstGeom>
          <a:solidFill>
            <a:srgbClr val="151C30"/>
          </a:solidFill>
          <a:ln w="12700">
            <a:solidFill>
              <a:srgbClr val="22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92240" y="2468880"/>
            <a:ext cx="640080" cy="640080"/>
          </a:xfrm>
          <a:prstGeom prst="ellipse">
            <a:avLst/>
          </a:prstGeom>
          <a:solidFill>
            <a:srgbClr val="16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542032"/>
            <a:ext cx="640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0B2447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33756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E7ECF6"/>
                </a:solidFill>
                <a:latin typeface="Calibri"/>
              </a:rPr>
              <a:t>Karşılaştırma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749039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8B9BBD"/>
                </a:solidFill>
                <a:latin typeface="Calibri"/>
              </a:rPr>
              <a:t>Normalize +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8B9BBD"/>
                </a:solidFill>
                <a:latin typeface="Calibri"/>
              </a:rPr>
              <a:t>skor tablosu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01752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6C79A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2194560"/>
            <a:ext cx="2606040" cy="2194560"/>
          </a:xfrm>
          <a:prstGeom prst="roundRect">
            <a:avLst/>
          </a:prstGeom>
          <a:solidFill>
            <a:srgbClr val="151C30"/>
          </a:solidFill>
          <a:ln w="12700">
            <a:solidFill>
              <a:srgbClr val="22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81160" y="2468880"/>
            <a:ext cx="640080" cy="640080"/>
          </a:xfrm>
          <a:prstGeom prst="ellipse">
            <a:avLst/>
          </a:prstGeom>
          <a:solidFill>
            <a:srgbClr val="16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2542032"/>
            <a:ext cx="640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0B2447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333756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E7ECF6"/>
                </a:solidFill>
                <a:latin typeface="Calibri"/>
              </a:rPr>
              <a:t>Sunum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3749039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8B9BBD"/>
                </a:solidFill>
                <a:latin typeface="Calibri"/>
              </a:rPr>
              <a:t>Dashboard +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8B9BBD"/>
                </a:solidFill>
                <a:latin typeface="Calibri"/>
              </a:rPr>
              <a:t>akıllı asistan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8463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16C79A"/>
                </a:solidFill>
                <a:latin typeface="Calibri"/>
              </a:rPr>
              <a:t>Her çıkarılan değer bir KAYNAK ALINTISINA bağlanır (grounding). Kaynağı doğrulanamayan değer reddedilir.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6C79A"/>
                </a:solidFill>
                <a:latin typeface="Calibri"/>
              </a:rPr>
              <a:t>ÖZGÜN DEĞER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E7ECF6"/>
                </a:solidFill>
                <a:latin typeface="Calibri"/>
              </a:rPr>
              <a:t>Birinciliğe oynayan 4 fark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5120640" cy="1874519"/>
          </a:xfrm>
          <a:prstGeom prst="roundRect">
            <a:avLst/>
          </a:prstGeom>
          <a:solidFill>
            <a:srgbClr val="151C30"/>
          </a:solidFill>
          <a:ln w="12700">
            <a:solidFill>
              <a:srgbClr val="22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19" y="23774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6C79A"/>
                </a:solidFill>
                <a:latin typeface="Calibri"/>
              </a:rPr>
              <a:t>🔎 Grounding / Atıf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292608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7ECF6"/>
                </a:solidFill>
                <a:latin typeface="Calibri"/>
              </a:rPr>
              <a:t>Her değer birebir kaynak cümleye bağlı; kaynağı olmayan değer düşürülür. Sıfır halüsinasyon — FP=0 ile kanıtlı.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48840"/>
            <a:ext cx="5120640" cy="1874519"/>
          </a:xfrm>
          <a:prstGeom prst="roundRect">
            <a:avLst/>
          </a:prstGeom>
          <a:solidFill>
            <a:srgbClr val="151C30"/>
          </a:solidFill>
          <a:ln w="12700">
            <a:solidFill>
              <a:srgbClr val="22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23774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6C79A"/>
                </a:solidFill>
                <a:latin typeface="Calibri"/>
              </a:rPr>
              <a:t>🔒 On-Prem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92608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7ECF6"/>
                </a:solidFill>
                <a:latin typeface="Calibri"/>
              </a:rPr>
              <a:t>API anahtarı, internet ve dış servis olmadan çalışır. Müşteri verisi kurum dışına çıkmaz (şartname %20).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251960"/>
            <a:ext cx="5120640" cy="1874519"/>
          </a:xfrm>
          <a:prstGeom prst="roundRect">
            <a:avLst/>
          </a:prstGeom>
          <a:solidFill>
            <a:srgbClr val="151C30"/>
          </a:solidFill>
          <a:ln w="12700">
            <a:solidFill>
              <a:srgbClr val="22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19" y="44805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6C79A"/>
                </a:solidFill>
                <a:latin typeface="Calibri"/>
              </a:rPr>
              <a:t>🤖 Agentic Asistan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19" y="502920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7ECF6"/>
                </a:solidFill>
                <a:latin typeface="Calibri"/>
              </a:rPr>
              <a:t>Niyet → araç → deterministik hesap; sayılar koddan gelir, LLM yalnız dile döker. Uydurma imkânsız.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251960"/>
            <a:ext cx="5120640" cy="1874519"/>
          </a:xfrm>
          <a:prstGeom prst="roundRect">
            <a:avLst/>
          </a:prstGeom>
          <a:solidFill>
            <a:srgbClr val="151C30"/>
          </a:solidFill>
          <a:ln w="12700">
            <a:solidFill>
              <a:srgbClr val="22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44805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6C79A"/>
                </a:solidFill>
                <a:latin typeface="Calibri"/>
              </a:rPr>
              <a:t>📊 Ölçülebilir Başarı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502920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7ECF6"/>
                </a:solidFill>
                <a:latin typeface="Calibri"/>
              </a:rPr>
              <a:t>Gold-set'e karşı precision/recall/F1. 10 banka üzerinde F1 = 1.00 ile sayısal kanıt.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6C79A"/>
                </a:solidFill>
                <a:latin typeface="Calibri"/>
              </a:rPr>
              <a:t>ÜRÜN · MASAÜSTÜ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E7ECF6"/>
                </a:solidFill>
                <a:latin typeface="Calibri"/>
              </a:rPr>
              <a:t>Tek ekranda çıkarım, karşılaştırma ve doğruluk</a:t>
            </a:r>
          </a:p>
        </p:txBody>
      </p:sp>
      <p:pic>
        <p:nvPicPr>
          <p:cNvPr id="5" name="Picture 4" descr="dashboard_masaus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6429375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5279" y="2011680"/>
            <a:ext cx="36576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8B9BBD"/>
                </a:solidFill>
                <a:latin typeface="Calibri"/>
              </a:rPr>
              <a:t>• Özet kartları: ürün/banka, kaynaklı alan, güven, Çıkarım F1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8B9BBD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8B9BBD"/>
                </a:solidFill>
                <a:latin typeface="Calibri"/>
              </a:rPr>
              <a:t>• CANLI/örnek kaynak rozetleri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8B9BBD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8B9BBD"/>
                </a:solidFill>
                <a:latin typeface="Calibri"/>
              </a:rPr>
              <a:t>• Kâr paylaşım oranı (📊 90-10)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8B9BBD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8B9BBD"/>
                </a:solidFill>
                <a:latin typeface="Calibri"/>
              </a:rPr>
              <a:t>• Akıllı asistan (kaynaklı yanıt)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8B9BBD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8B9BBD"/>
                </a:solidFill>
                <a:latin typeface="Calibri"/>
              </a:rPr>
              <a:t>• Canlı doğruluk paneli: %100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6C79A"/>
                </a:solidFill>
                <a:latin typeface="Calibri"/>
              </a:rPr>
              <a:t>ŞEFFAFLIK · MOBIL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E7ECF6"/>
                </a:solidFill>
                <a:latin typeface="Calibri"/>
              </a:rPr>
              <a:t>Hangi bankadan? — kaynak, JSON ve mobil</a:t>
            </a:r>
          </a:p>
        </p:txBody>
      </p:sp>
      <p:pic>
        <p:nvPicPr>
          <p:cNvPr id="5" name="Picture 4" descr="dashboard_mob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737360"/>
            <a:ext cx="2197160" cy="475488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85800" y="2057400"/>
            <a:ext cx="146304" cy="146304"/>
          </a:xfrm>
          <a:prstGeom prst="ellipse">
            <a:avLst/>
          </a:prstGeom>
          <a:solidFill>
            <a:srgbClr val="2F8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E7ECF6"/>
                </a:solidFill>
                <a:latin typeface="Calibri"/>
              </a:rPr>
              <a:t>Kaynak / Alanlar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5915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8B9BBD"/>
                </a:solidFill>
                <a:latin typeface="Calibri"/>
              </a:rPr>
              <a:t>Her alan → değer + %güven + birebir kaynak alıntısı + banka sayfası URL'si.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154680"/>
            <a:ext cx="146304" cy="146304"/>
          </a:xfrm>
          <a:prstGeom prst="ellipse">
            <a:avLst/>
          </a:prstGeom>
          <a:solidFill>
            <a:srgbClr val="2F8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0632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E7ECF6"/>
                </a:solidFill>
                <a:latin typeface="Calibri"/>
              </a:rPr>
              <a:t>JSON Çıkarımı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5643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8B9BBD"/>
                </a:solidFill>
                <a:latin typeface="Calibri"/>
              </a:rPr>
              <a:t>Yapılandırılmış çıktı paneli — ChatGPT-vari değil, makine-okur veri.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251960"/>
            <a:ext cx="146304" cy="146304"/>
          </a:xfrm>
          <a:prstGeom prst="ellipse">
            <a:avLst/>
          </a:prstGeom>
          <a:solidFill>
            <a:srgbClr val="2F8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605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E7ECF6"/>
                </a:solidFill>
                <a:latin typeface="Calibri"/>
              </a:rPr>
              <a:t>Karşılaştırma Skoru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5371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8B9BBD"/>
                </a:solidFill>
                <a:latin typeface="Calibri"/>
              </a:rPr>
              <a:t>En yüksek/düşük kâr payı, en uzun vade, en avantajlı kampanya (şartname 5.7).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5349240"/>
            <a:ext cx="146304" cy="146304"/>
          </a:xfrm>
          <a:prstGeom prst="ellipse">
            <a:avLst/>
          </a:prstGeom>
          <a:solidFill>
            <a:srgbClr val="2F8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2578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E7ECF6"/>
                </a:solidFill>
                <a:latin typeface="Calibri"/>
              </a:rPr>
              <a:t>Responsive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6509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8B9BBD"/>
                </a:solidFill>
                <a:latin typeface="Calibri"/>
              </a:rPr>
              <a:t>≤640px'te tablo otomatik kart görünümüne geçer.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6C79A"/>
                </a:solidFill>
                <a:latin typeface="Calibri"/>
              </a:rPr>
              <a:t>SONUÇLAR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Ölçülmüş başarı — iddia değil, sayı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651760" cy="2377440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16C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6C79A"/>
                </a:solidFill>
                <a:latin typeface="Calibri"/>
              </a:rPr>
              <a:t>%100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2651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CADCFC"/>
                </a:solidFill>
                <a:latin typeface="Calibri"/>
              </a:rPr>
              <a:t>Çıkarım F1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CADCFC"/>
                </a:solidFill>
                <a:latin typeface="Calibri"/>
              </a:rPr>
              <a:t>(gold-set)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194560"/>
            <a:ext cx="2651760" cy="2377440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16C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2651760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6C79A"/>
                </a:solidFill>
                <a:latin typeface="Calibr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749039"/>
            <a:ext cx="2651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CADCFC"/>
                </a:solidFill>
                <a:latin typeface="Calibri"/>
              </a:rPr>
              <a:t>BDDK katılım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CADCFC"/>
                </a:solidFill>
                <a:latin typeface="Calibri"/>
              </a:rPr>
              <a:t>bankası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94560"/>
            <a:ext cx="2651760" cy="2377440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16C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651760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6C79A"/>
                </a:solidFill>
                <a:latin typeface="Calibr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749039"/>
            <a:ext cx="2651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CADCFC"/>
                </a:solidFill>
                <a:latin typeface="Calibri"/>
              </a:rPr>
              <a:t>Yanlış-pozitif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CADCFC"/>
                </a:solidFill>
                <a:latin typeface="Calibri"/>
              </a:rPr>
              <a:t>(halüsinasyon)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2194560"/>
            <a:ext cx="2651760" cy="2377440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16C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2651760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6C79A"/>
                </a:solidFill>
                <a:latin typeface="Calibri"/>
              </a:rPr>
              <a:t>10/10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3749039"/>
            <a:ext cx="2651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CADCFC"/>
                </a:solidFill>
                <a:latin typeface="Calibri"/>
              </a:rPr>
              <a:t>Otomatik test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CADCFC"/>
                </a:solidFill>
                <a:latin typeface="Calibri"/>
              </a:rPr>
              <a:t>geçer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292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CADCFC"/>
                </a:solidFill>
                <a:latin typeface="Calibri"/>
              </a:rPr>
              <a:t>Precision 1.00 · Recall 1.00 · Accuracy 1.00 — TP=32, FP=0, FN=0. Grounding sayesinde uydurma değer sisteme giremez.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6C79A"/>
                </a:solidFill>
                <a:latin typeface="Calibri"/>
              </a:rPr>
              <a:t>ON-PREM UYGULANABILIRLIK · ŞARTNAME %20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E7ECF6"/>
                </a:solidFill>
                <a:latin typeface="Calibri"/>
              </a:rPr>
              <a:t>Kurum içi, dış servise bağımsız — garanti edilen varsayılan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965960"/>
            <a:ext cx="384048" cy="384048"/>
          </a:xfrm>
          <a:prstGeom prst="ellipse">
            <a:avLst/>
          </a:prstGeom>
          <a:solidFill>
            <a:srgbClr val="16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84248"/>
            <a:ext cx="38404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0B2447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9202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E7ECF6"/>
                </a:solidFill>
                <a:latin typeface="Calibri"/>
              </a:rPr>
              <a:t>Dış servis yok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920240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8B9BBD"/>
                </a:solidFill>
                <a:latin typeface="Calibri"/>
              </a:rPr>
              <a:t>Bulut LLM (Groq/Gemini/Claude) mekanik olarak reddedilir; yalnız kural motoru / yerel Ollama.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971800"/>
            <a:ext cx="384048" cy="384048"/>
          </a:xfrm>
          <a:prstGeom prst="ellipse">
            <a:avLst/>
          </a:prstGeom>
          <a:solidFill>
            <a:srgbClr val="16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90088"/>
            <a:ext cx="38404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0B2447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9260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E7ECF6"/>
                </a:solidFill>
                <a:latin typeface="Calibri"/>
              </a:rPr>
              <a:t>Anahtarsız çalışır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926080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8B9BBD"/>
                </a:solidFill>
                <a:latin typeface="Calibri"/>
              </a:rPr>
              <a:t>API anahtarı, internet gerekmez. Kural motoru tek başına F1=1.00.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977639"/>
            <a:ext cx="384048" cy="384048"/>
          </a:xfrm>
          <a:prstGeom prst="ellipse">
            <a:avLst/>
          </a:prstGeom>
          <a:solidFill>
            <a:srgbClr val="16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995927"/>
            <a:ext cx="38404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0B2447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9319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E7ECF6"/>
                </a:solidFill>
                <a:latin typeface="Calibri"/>
              </a:rPr>
              <a:t>Veri kurum içinde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931920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8B9BBD"/>
                </a:solidFill>
                <a:latin typeface="Calibri"/>
              </a:rPr>
              <a:t>Müşteri/banka verisi kurum dışına çıkmaz — /api/health bunu raporlar.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4983479"/>
            <a:ext cx="384048" cy="384048"/>
          </a:xfrm>
          <a:prstGeom prst="ellipse">
            <a:avLst/>
          </a:prstGeom>
          <a:solidFill>
            <a:srgbClr val="16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001767"/>
            <a:ext cx="38404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0B2447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937759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E7ECF6"/>
                </a:solidFill>
                <a:latin typeface="Calibri"/>
              </a:rPr>
              <a:t>Açık kaynak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937759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8B9BBD"/>
                </a:solidFill>
                <a:latin typeface="Calibri"/>
              </a:rPr>
              <a:t>Tüm bağımlılıklar açık kaynak; Apache 2.0 lisanslı. Ücretli/kapalı bağımlılık yok.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0807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16C79A"/>
                </a:solidFill>
                <a:latin typeface="Calibri"/>
              </a:rPr>
              <a:t>TF_ONPREM=1 (varsayılan): bulut istense bile yerel omurgaya düşer — mimari garanti.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6C79A"/>
                </a:solidFill>
                <a:latin typeface="Calibri"/>
              </a:rPr>
              <a:t>ŞARTNAME UYUMU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E7ECF6"/>
                </a:solidFill>
                <a:latin typeface="Calibri"/>
              </a:rPr>
              <a:t>Değerlendirme kriterleriyle birebir örtüşme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0972800" cy="502920"/>
          </a:xfrm>
          <a:prstGeom prst="round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93392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Kriter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993392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Ağırlık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993392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Karşılığımız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68880"/>
            <a:ext cx="10972800" cy="658368"/>
          </a:xfrm>
          <a:prstGeom prst="roundRect">
            <a:avLst/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E7ECF6"/>
                </a:solidFill>
                <a:latin typeface="Calibri"/>
              </a:rPr>
              <a:t>Model Başarısı &amp; Anlamlandırma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560320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6C79A"/>
                </a:solidFill>
                <a:latin typeface="Calibri"/>
              </a:rPr>
              <a:t>%30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523744"/>
            <a:ext cx="3566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8B9BBD"/>
                </a:solidFill>
                <a:latin typeface="Calibri"/>
              </a:rPr>
              <a:t>Grounding, farklı ifade/eksik bilgide doğru sonuç, F1=1.00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82112"/>
            <a:ext cx="10972800" cy="658368"/>
          </a:xfrm>
          <a:prstGeom prst="roundRect">
            <a:avLst/>
          </a:prstGeom>
          <a:solidFill>
            <a:srgbClr val="11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73552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E7ECF6"/>
                </a:solidFill>
                <a:latin typeface="Calibri"/>
              </a:rPr>
              <a:t>Fonksiyonellik &amp; Senaryo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273552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6C79A"/>
                </a:solidFill>
                <a:latin typeface="Calibri"/>
              </a:rPr>
              <a:t>%20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3236976"/>
            <a:ext cx="3566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8B9BBD"/>
                </a:solidFill>
                <a:latin typeface="Calibri"/>
              </a:rPr>
              <a:t>Uçtan uca + 10 banka + eksiksiz alan çıkarımı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95344"/>
            <a:ext cx="10972800" cy="658368"/>
          </a:xfrm>
          <a:prstGeom prst="roundRect">
            <a:avLst/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986784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E7ECF6"/>
                </a:solidFill>
                <a:latin typeface="Calibri"/>
              </a:rPr>
              <a:t>Teknik İmplementasyon &amp; Mimari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986784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6C79A"/>
                </a:solidFill>
                <a:latin typeface="Calibri"/>
              </a:rPr>
              <a:t>%20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3950208"/>
            <a:ext cx="3566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8B9BBD"/>
                </a:solidFill>
                <a:latin typeface="Calibri"/>
              </a:rPr>
              <a:t>Modüler kod, ön işleme, kural+opsiyonel yerel LLM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08576"/>
            <a:ext cx="10972800" cy="658368"/>
          </a:xfrm>
          <a:prstGeom prst="roundRect">
            <a:avLst/>
          </a:prstGeom>
          <a:solidFill>
            <a:srgbClr val="11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700016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E7ECF6"/>
                </a:solidFill>
                <a:latin typeface="Calibri"/>
              </a:rPr>
              <a:t>On-Prem Uygulanabilirlik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700016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6C79A"/>
                </a:solidFill>
                <a:latin typeface="Calibri"/>
              </a:rPr>
              <a:t>%20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4663440"/>
            <a:ext cx="3566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8B9BBD"/>
                </a:solidFill>
                <a:latin typeface="Calibri"/>
              </a:rPr>
              <a:t>Anahtarsız, dış servissiz, veri kurum içinde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321808"/>
            <a:ext cx="10972800" cy="658368"/>
          </a:xfrm>
          <a:prstGeom prst="roundRect">
            <a:avLst/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413248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E7ECF6"/>
                </a:solidFill>
                <a:latin typeface="Calibri"/>
              </a:rPr>
              <a:t>Yenilikçilik &amp; Yaratıcılık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413248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6C79A"/>
                </a:solidFill>
                <a:latin typeface="Calibri"/>
              </a:rPr>
              <a:t>%10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5376672"/>
            <a:ext cx="3566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8B9BBD"/>
                </a:solidFill>
                <a:latin typeface="Calibri"/>
              </a:rPr>
              <a:t>Ek alanlar, kaynak provenance, skor, paylaşım oranı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6C79A"/>
                </a:solidFill>
                <a:latin typeface="Calibri"/>
              </a:rPr>
              <a:t>TEKNOLOJI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E7ECF6"/>
                </a:solidFill>
                <a:latin typeface="Calibri"/>
              </a:rPr>
              <a:t>Tamamı açık kaynak yığın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486400" cy="749808"/>
          </a:xfrm>
          <a:prstGeom prst="roundRect">
            <a:avLst/>
          </a:prstGeom>
          <a:solidFill>
            <a:srgbClr val="151C30"/>
          </a:solidFill>
          <a:ln w="12700">
            <a:solidFill>
              <a:srgbClr val="22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31136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8B9BBD"/>
                </a:solidFill>
                <a:latin typeface="Calibri"/>
              </a:rPr>
              <a:t>Dil / Çalışma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194560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E7ECF6"/>
                </a:solidFill>
                <a:latin typeface="Calibri"/>
              </a:rPr>
              <a:t>Python 3.13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03120"/>
            <a:ext cx="5486400" cy="749808"/>
          </a:xfrm>
          <a:prstGeom prst="roundRect">
            <a:avLst/>
          </a:prstGeom>
          <a:solidFill>
            <a:srgbClr val="151C30"/>
          </a:solidFill>
          <a:ln w="12700">
            <a:solidFill>
              <a:srgbClr val="22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231136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8B9BBD"/>
                </a:solidFill>
                <a:latin typeface="Calibri"/>
              </a:rPr>
              <a:t>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2194560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E7ECF6"/>
                </a:solidFill>
                <a:latin typeface="Calibri"/>
              </a:rPr>
              <a:t>FastAPI + Uvicorn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17520"/>
            <a:ext cx="5486400" cy="749808"/>
          </a:xfrm>
          <a:prstGeom prst="roundRect">
            <a:avLst/>
          </a:prstGeom>
          <a:solidFill>
            <a:srgbClr val="151C30"/>
          </a:solidFill>
          <a:ln w="12700">
            <a:solidFill>
              <a:srgbClr val="22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45536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8B9BBD"/>
                </a:solidFill>
                <a:latin typeface="Calibri"/>
              </a:rPr>
              <a:t>Şema/Doğrulama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108960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E7ECF6"/>
                </a:solidFill>
                <a:latin typeface="Calibri"/>
              </a:rPr>
              <a:t>Pydantic v2 (grounded)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017520"/>
            <a:ext cx="5486400" cy="749808"/>
          </a:xfrm>
          <a:prstGeom prst="roundRect">
            <a:avLst/>
          </a:prstGeom>
          <a:solidFill>
            <a:srgbClr val="151C30"/>
          </a:solidFill>
          <a:ln w="12700">
            <a:solidFill>
              <a:srgbClr val="22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145536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8B9BBD"/>
                </a:solidFill>
                <a:latin typeface="Calibri"/>
              </a:rPr>
              <a:t>Kazıma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108960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E7ECF6"/>
                </a:solidFill>
                <a:latin typeface="Calibri"/>
              </a:rPr>
              <a:t>httpx · BeautifulSoup · Playwright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31920"/>
            <a:ext cx="5486400" cy="749808"/>
          </a:xfrm>
          <a:prstGeom prst="roundRect">
            <a:avLst/>
          </a:prstGeom>
          <a:solidFill>
            <a:srgbClr val="151C30"/>
          </a:solidFill>
          <a:ln w="12700">
            <a:solidFill>
              <a:srgbClr val="22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59935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8B9BBD"/>
                </a:solidFill>
                <a:latin typeface="Calibri"/>
              </a:rPr>
              <a:t>LLM omurgası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023359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E7ECF6"/>
                </a:solidFill>
                <a:latin typeface="Calibri"/>
              </a:rPr>
              <a:t>Kural (mock) · Ollama (yerel)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931920"/>
            <a:ext cx="5486400" cy="749808"/>
          </a:xfrm>
          <a:prstGeom prst="roundRect">
            <a:avLst/>
          </a:prstGeom>
          <a:solidFill>
            <a:srgbClr val="151C30"/>
          </a:solidFill>
          <a:ln w="12700">
            <a:solidFill>
              <a:srgbClr val="22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059935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8B9BBD"/>
                </a:solidFill>
                <a:latin typeface="Calibri"/>
              </a:rPr>
              <a:t>Depolama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4023359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E7ECF6"/>
                </a:solidFill>
                <a:latin typeface="Calibri"/>
              </a:rPr>
              <a:t>SQLite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846320"/>
            <a:ext cx="5486400" cy="749808"/>
          </a:xfrm>
          <a:prstGeom prst="roundRect">
            <a:avLst/>
          </a:prstGeom>
          <a:solidFill>
            <a:srgbClr val="151C30"/>
          </a:solidFill>
          <a:ln w="12700">
            <a:solidFill>
              <a:srgbClr val="22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974336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8B9BBD"/>
                </a:solidFill>
                <a:latin typeface="Calibri"/>
              </a:rPr>
              <a:t>Arayüz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937759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E7ECF6"/>
                </a:solidFill>
                <a:latin typeface="Calibri"/>
              </a:rPr>
              <a:t>Vanilla JS + responsive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846320"/>
            <a:ext cx="5486400" cy="749808"/>
          </a:xfrm>
          <a:prstGeom prst="roundRect">
            <a:avLst/>
          </a:prstGeom>
          <a:solidFill>
            <a:srgbClr val="151C30"/>
          </a:solidFill>
          <a:ln w="12700">
            <a:solidFill>
              <a:srgbClr val="22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974336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8B9BBD"/>
                </a:solidFill>
                <a:latin typeface="Calibri"/>
              </a:rPr>
              <a:t>Kalite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4937759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E7ECF6"/>
                </a:solidFill>
                <a:latin typeface="Calibri"/>
              </a:rPr>
              <a:t>pytest 10/10 · gold eval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16C79A"/>
                </a:solidFill>
                <a:latin typeface="Calibri"/>
              </a:rPr>
              <a:t>Ücretli/kapalı bağımlılık yok · Apache License 2.0 · GitHub: BilisimVadisi2026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6C79A"/>
                </a:solidFill>
                <a:latin typeface="Calibri"/>
              </a:rPr>
              <a:t>TAKIM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Berrak Zeka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1">
                <a:solidFill>
                  <a:srgbClr val="CADCFC"/>
                </a:solidFill>
                <a:latin typeface="Calibri"/>
              </a:rPr>
              <a:t>“Berrak” — çıkardığımız her değeri kaynağına bağlarız; bulanık, uydurma bilgi üretmeyiz.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00400"/>
            <a:ext cx="2651760" cy="914400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3429000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[Üye 1 — Takım Kaptanı]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3200400"/>
            <a:ext cx="2651760" cy="914400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3429000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[Üye 2]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00400"/>
            <a:ext cx="2651760" cy="914400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429000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[Üye 3]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3200400"/>
            <a:ext cx="2651760" cy="914400"/>
          </a:xfrm>
          <a:prstGeom prst="roundRect">
            <a:avLst/>
          </a:prstGeom>
          <a:solidFill>
            <a:srgbClr val="0F1A33"/>
          </a:solidFill>
          <a:ln w="12700">
            <a:solidFill>
              <a:srgbClr val="22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19" y="3429000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[Danışman — varsa]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54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6C79A"/>
                </a:solidFill>
                <a:latin typeface="Calibri"/>
              </a:rPr>
              <a:t>Canlı demo: https://ahk-terminal-1.onrender.com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2578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8B9BBD"/>
                </a:solidFill>
                <a:latin typeface="Calibri"/>
              </a:rPr>
              <a:t>Kod &amp; veri seti (Apache 2.0): github.com/kumkoprulu-dev/ahk-terminal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8B9BBD"/>
                </a:solidFill>
                <a:latin typeface="Calibri"/>
              </a:rPr>
              <a:t>KatılımLens · TEKNOFEST 2026 · 2. Senaryo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